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" charset="1" panose="00000500000000000000"/>
      <p:regular r:id="rId16"/>
    </p:embeddedFon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1191" y="2238080"/>
            <a:ext cx="16865619" cy="376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8"/>
              </a:lnSpc>
            </a:pPr>
            <a:r>
              <a:rPr lang="en-US" sz="7338" spc="-44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 Comparative Study of Transfer Learning Models for Weed and Crop Classification Using Deep Learning</a:t>
            </a:r>
          </a:p>
          <a:p>
            <a:pPr algn="l">
              <a:lnSpc>
                <a:spcPts val="733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7369021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7778115"/>
            <a:ext cx="4560684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Gaduputi Kotlo Vijaya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Srisabari Prahadeshwar G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Mikhil Sai Doddi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Jaivishanth N C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Pritesh Jain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60684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8914" y="3723853"/>
            <a:ext cx="1483618" cy="1537428"/>
          </a:xfrm>
          <a:custGeom>
            <a:avLst/>
            <a:gdLst/>
            <a:ahLst/>
            <a:cxnLst/>
            <a:rect r="r" b="b" t="t" l="l"/>
            <a:pathLst>
              <a:path h="1537428" w="1483618">
                <a:moveTo>
                  <a:pt x="0" y="0"/>
                </a:moveTo>
                <a:lnTo>
                  <a:pt x="1483618" y="0"/>
                </a:lnTo>
                <a:lnTo>
                  <a:pt x="1483618" y="1537428"/>
                </a:lnTo>
                <a:lnTo>
                  <a:pt x="0" y="153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49128" y="3365384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25565"/>
            <a:ext cx="4293339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Weeds reduce cr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op yield by competing for essential resources like nutrients, water, and sunlight. Manual detection is slow and inefficient, while excessive herbicide use causes environmental damage.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88914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8914" y="6425565"/>
            <a:ext cx="4290041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This project proposes an AI-bas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ed approach using deep learning and transfer learning to automatically classify plant images into crops and weeds with high accuracy.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49128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Why It Matte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128" y="6425565"/>
            <a:ext cx="431017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system enables p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recision agriculture by reducing chemical usage, improving efficiency, and supporting sustainable farming practices.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73722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Main G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oal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31912"/>
            <a:ext cx="15576087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 develop an accurate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and efficient deep learning model for automatic weed and crop classification using transfer learning techniques.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21572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Supporting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79762"/>
            <a:ext cx="13099941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Compare performance of Mob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ileNetV1, MobileNetV2, and EfficientNetB0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Apply preprocessing techniques like resizing and normalization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 data augmentation to improve model generalization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Eva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luate models using accuracy, precision, recall, and F1-score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entify the most suitable model for real-world agricultural applications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855272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Expected Outcome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562340"/>
            <a:ext cx="687050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Achieve high classification accuracy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Reduce manual effort in weed detection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Enable efficient and sustainable farming practices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649" y="781181"/>
            <a:ext cx="18288000" cy="8359327"/>
            <a:chOff x="0" y="0"/>
            <a:chExt cx="1811948" cy="828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828230"/>
            </a:xfrm>
            <a:custGeom>
              <a:avLst/>
              <a:gdLst/>
              <a:ahLst/>
              <a:cxnLst/>
              <a:rect r="r" b="b" t="t" l="l"/>
              <a:pathLst>
                <a:path h="828230" w="1811948">
                  <a:moveTo>
                    <a:pt x="1811948" y="0"/>
                  </a:moveTo>
                  <a:lnTo>
                    <a:pt x="1811948" y="713930"/>
                  </a:lnTo>
                  <a:lnTo>
                    <a:pt x="905974" y="828230"/>
                  </a:lnTo>
                  <a:lnTo>
                    <a:pt x="0" y="7139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761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9109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Literature Survey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1402" y="3579835"/>
            <a:ext cx="16267898" cy="445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Deep learning techniques have</a:t>
            </a: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shown superior performance over traditional image processing methods in plant classification</a:t>
            </a:r>
          </a:p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Transfer learning using pretrained CNN models improves accuracy and reduces training time</a:t>
            </a:r>
          </a:p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Models such as MobileNet, ResNet, and DenseNet are widely used for weed and crop detection</a:t>
            </a:r>
          </a:p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Major challenges include:</a:t>
            </a:r>
          </a:p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Visual similarity between crops and weeds</a:t>
            </a:r>
          </a:p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Class imbalance in datasets</a:t>
            </a:r>
          </a:p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Variations in lighting and background</a:t>
            </a:r>
          </a:p>
          <a:p>
            <a:pPr algn="l" marL="547541" indent="-273771" lvl="1">
              <a:lnSpc>
                <a:spcPts val="3550"/>
              </a:lnSpc>
              <a:spcBef>
                <a:spcPct val="0"/>
              </a:spcBef>
              <a:buFont typeface="Arial"/>
              <a:buChar char="•"/>
            </a:pPr>
            <a:r>
              <a:rPr lang="en-US" sz="253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Existing studies lack a direct comparison of lightweight models under identical conditions</a:t>
            </a:r>
          </a:p>
          <a:p>
            <a:pPr algn="l">
              <a:lnSpc>
                <a:spcPts val="355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Background Research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Dataset &amp; Preprocessing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97303" y="8863827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collection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82123"/>
            <a:ext cx="14410598" cy="575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Dataset used: Plant Seedlings Datas</a:t>
            </a: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et (V2) containing 12 plant classes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Includes both crop and weed species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Images are resized and normalized for model input</a:t>
            </a:r>
          </a:p>
          <a:p>
            <a:pPr algn="l">
              <a:lnSpc>
                <a:spcPts val="3810"/>
              </a:lnSpc>
              <a:spcBef>
                <a:spcPct val="0"/>
              </a:spcBef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   Data augmentation techniques applied: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Flipping (horizontal &amp; vertical)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Rotation (up to 30°)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Zoom variations</a:t>
            </a:r>
          </a:p>
          <a:p>
            <a:pPr algn="l">
              <a:lnSpc>
                <a:spcPts val="3810"/>
              </a:lnSpc>
              <a:spcBef>
                <a:spcPct val="0"/>
              </a:spcBef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   Dataset split: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70% Training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20% Validation</a:t>
            </a:r>
          </a:p>
          <a:p>
            <a:pPr algn="l" marL="587564" indent="-293782" lvl="1">
              <a:lnSpc>
                <a:spcPts val="3810"/>
              </a:lnSpc>
              <a:spcBef>
                <a:spcPct val="0"/>
              </a:spcBef>
              <a:buFont typeface="Arial"/>
              <a:buChar char="•"/>
            </a:pPr>
            <a:r>
              <a:rPr lang="en-US" sz="272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10% Testing</a:t>
            </a:r>
          </a:p>
          <a:p>
            <a:pPr algn="l">
              <a:lnSpc>
                <a:spcPts val="381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-3396381">
            <a:off x="10742688" y="2313160"/>
            <a:ext cx="14198631" cy="11475803"/>
            <a:chOff x="0" y="0"/>
            <a:chExt cx="2106546" cy="17025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6546" cy="1702580"/>
            </a:xfrm>
            <a:custGeom>
              <a:avLst/>
              <a:gdLst/>
              <a:ahLst/>
              <a:cxnLst/>
              <a:rect r="r" b="b" t="t" l="l"/>
              <a:pathLst>
                <a:path h="1702580" w="2106546">
                  <a:moveTo>
                    <a:pt x="2106546" y="0"/>
                  </a:moveTo>
                  <a:lnTo>
                    <a:pt x="2106546" y="1588280"/>
                  </a:lnTo>
                  <a:lnTo>
                    <a:pt x="1053273" y="1702580"/>
                  </a:lnTo>
                  <a:lnTo>
                    <a:pt x="0" y="1588280"/>
                  </a:lnTo>
                  <a:lnTo>
                    <a:pt x="0" y="0"/>
                  </a:lnTo>
                  <a:lnTo>
                    <a:pt x="2106546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06546" cy="1635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Models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selection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3600450"/>
            <a:ext cx="6817607" cy="1543050"/>
            <a:chOff x="0" y="0"/>
            <a:chExt cx="1795584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584" cy="406400"/>
            </a:xfrm>
            <a:custGeom>
              <a:avLst/>
              <a:gdLst/>
              <a:ahLst/>
              <a:cxnLst/>
              <a:rect r="r" b="b" t="t" l="l"/>
              <a:pathLst>
                <a:path h="406400" w="1795584">
                  <a:moveTo>
                    <a:pt x="159238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92384" y="406400"/>
                  </a:lnTo>
                  <a:lnTo>
                    <a:pt x="1795584" y="203200"/>
                  </a:lnTo>
                  <a:lnTo>
                    <a:pt x="1592384" y="0"/>
                  </a:lnTo>
                  <a:close/>
                </a:path>
              </a:pathLst>
            </a:custGeom>
            <a:solidFill>
              <a:srgbClr val="8C775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128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4871" y="3600450"/>
            <a:ext cx="3811973" cy="1543050"/>
            <a:chOff x="0" y="0"/>
            <a:chExt cx="1003976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3976" cy="406400"/>
            </a:xfrm>
            <a:custGeom>
              <a:avLst/>
              <a:gdLst/>
              <a:ahLst/>
              <a:cxnLst/>
              <a:rect r="r" b="b" t="t" l="l"/>
              <a:pathLst>
                <a:path h="406400" w="1003976">
                  <a:moveTo>
                    <a:pt x="0" y="0"/>
                  </a:moveTo>
                  <a:lnTo>
                    <a:pt x="800776" y="0"/>
                  </a:lnTo>
                  <a:lnTo>
                    <a:pt x="1003976" y="203200"/>
                  </a:lnTo>
                  <a:lnTo>
                    <a:pt x="80077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8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47625"/>
              <a:ext cx="74997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107" y="3600450"/>
            <a:ext cx="3811973" cy="1543050"/>
            <a:chOff x="0" y="0"/>
            <a:chExt cx="1003976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3976" cy="406400"/>
            </a:xfrm>
            <a:custGeom>
              <a:avLst/>
              <a:gdLst/>
              <a:ahLst/>
              <a:cxnLst/>
              <a:rect r="r" b="b" t="t" l="l"/>
              <a:pathLst>
                <a:path h="406400" w="1003976">
                  <a:moveTo>
                    <a:pt x="0" y="0"/>
                  </a:moveTo>
                  <a:lnTo>
                    <a:pt x="800776" y="0"/>
                  </a:lnTo>
                  <a:lnTo>
                    <a:pt x="1003976" y="203200"/>
                  </a:lnTo>
                  <a:lnTo>
                    <a:pt x="800776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6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47625"/>
              <a:ext cx="74997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13343" y="3600450"/>
            <a:ext cx="7311622" cy="1543050"/>
            <a:chOff x="0" y="0"/>
            <a:chExt cx="1925695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5695" cy="406400"/>
            </a:xfrm>
            <a:custGeom>
              <a:avLst/>
              <a:gdLst/>
              <a:ahLst/>
              <a:cxnLst/>
              <a:rect r="r" b="b" t="t" l="l"/>
              <a:pathLst>
                <a:path h="406400" w="1925695">
                  <a:moveTo>
                    <a:pt x="0" y="0"/>
                  </a:moveTo>
                  <a:lnTo>
                    <a:pt x="1722495" y="0"/>
                  </a:lnTo>
                  <a:lnTo>
                    <a:pt x="1925695" y="203200"/>
                  </a:lnTo>
                  <a:lnTo>
                    <a:pt x="172249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753">
                <a:alpha val="4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47625"/>
              <a:ext cx="1671695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801496" y="4149094"/>
            <a:ext cx="281014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Model Selec</a:t>
            </a: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66130" y="4149094"/>
            <a:ext cx="240396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MobileNetV1 &amp;</a:t>
            </a: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V2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83075" y="4149094"/>
            <a:ext cx="204984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EfficientN</a:t>
            </a:r>
            <a:r>
              <a:rPr lang="en-US" sz="2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etB0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73755" y="4149094"/>
            <a:ext cx="253299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Training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Approach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4159" y="6261188"/>
            <a:ext cx="435574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Selected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lightweight deep learning models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Suitable for real-time agricultural applications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960339" y="6261188"/>
            <a:ext cx="4355740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Efficient and low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computational cost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depthwise separable convolutions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Suitable for mobile/embedded devices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932260" y="6261188"/>
            <a:ext cx="435574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etrained on ImageNet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Two-phase training: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Train classification head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Fine-tune entire model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23" id="23"/>
          <p:cNvSpPr/>
          <p:nvPr/>
        </p:nvSpPr>
        <p:spPr>
          <a:xfrm>
            <a:off x="2712140" y="5105404"/>
            <a:ext cx="0" cy="861252"/>
          </a:xfrm>
          <a:prstGeom prst="line">
            <a:avLst/>
          </a:prstGeom>
          <a:ln cap="flat" w="381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7116124" y="5105404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15627597" y="5143500"/>
            <a:ext cx="0" cy="861252"/>
          </a:xfrm>
          <a:prstGeom prst="line">
            <a:avLst/>
          </a:prstGeom>
          <a:ln cap="flat" w="38100">
            <a:solidFill>
              <a:srgbClr val="8C7753">
                <a:alpha val="40000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11227047" y="5143500"/>
            <a:ext cx="0" cy="861252"/>
          </a:xfrm>
          <a:prstGeom prst="line">
            <a:avLst/>
          </a:prstGeom>
          <a:ln cap="flat" w="38100">
            <a:solidFill>
              <a:srgbClr val="8C7753">
                <a:alpha val="69804"/>
              </a:srgbClr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9576520" y="6261188"/>
            <a:ext cx="4355740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 compound scaling (depth, width, resolution)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Provides higher accuracy with efficiency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Better feature extraction capability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 Development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8640" y="3576179"/>
            <a:ext cx="43166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search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 → Data Collection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8640" y="4202924"/>
            <a:ext cx="514656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Colle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cted Plan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 See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dlin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 Dat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(12 cl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ses)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Includes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cro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weed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mage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 flipV="true">
            <a:off x="505275" y="5715000"/>
            <a:ext cx="16754025" cy="36"/>
          </a:xfrm>
          <a:prstGeom prst="line">
            <a:avLst/>
          </a:prstGeom>
          <a:ln cap="flat" w="76200">
            <a:solidFill>
              <a:srgbClr val="8C7753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>
            <a:off x="1028700" y="3802874"/>
            <a:ext cx="9525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757823" y="6715125"/>
            <a:ext cx="405495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Ide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ation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 → Preprocessing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57823" y="7341870"/>
            <a:ext cx="5246953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iz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norma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lizati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augm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entation: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ro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tate,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z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oom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AutoShape 11" id="11"/>
          <p:cNvSpPr/>
          <p:nvPr/>
        </p:nvSpPr>
        <p:spPr>
          <a:xfrm>
            <a:off x="4437421" y="570371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7371774" y="3802874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1303288" y="5703712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>
            <a:off x="13762462" y="3802874"/>
            <a:ext cx="0" cy="1940701"/>
          </a:xfrm>
          <a:prstGeom prst="line">
            <a:avLst/>
          </a:prstGeom>
          <a:ln cap="rnd" w="19050">
            <a:solidFill>
              <a:srgbClr val="8C7753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7763865" y="3578084"/>
            <a:ext cx="443744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Prototyping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 → Model Training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63865" y="4174349"/>
            <a:ext cx="498780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Applied transfe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mo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us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ing pr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 ImageNet we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igh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ts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627138" y="6715125"/>
            <a:ext cx="544166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Feedb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ack &amp; Revisions</a:t>
            </a:r>
            <a:r>
              <a:rPr lang="en-US" sz="2400" strike="noStrike" u="none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 → Fine-Tuning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7138" y="7341870"/>
            <a:ext cx="521247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Two-phase training: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Train cl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assification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ead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Fine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del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mprove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 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perform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100" strike="noStrike" u="none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ce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152987" y="3576179"/>
            <a:ext cx="4013869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 Build</a:t>
            </a:r>
            <a:r>
              <a:rPr lang="en-US" b="true" sz="2400" strike="noStrike" u="non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→ Evaluation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152987" y="4017187"/>
            <a:ext cx="401386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Tested on unseen data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      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Evaluated using: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Accu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racy , Precision , Recall , F1-score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44883" y="2673869"/>
            <a:ext cx="8075947" cy="4939262"/>
          </a:xfrm>
          <a:custGeom>
            <a:avLst/>
            <a:gdLst/>
            <a:ahLst/>
            <a:cxnLst/>
            <a:rect r="r" b="b" t="t" l="l"/>
            <a:pathLst>
              <a:path h="4939262" w="8075947">
                <a:moveTo>
                  <a:pt x="0" y="0"/>
                </a:moveTo>
                <a:lnTo>
                  <a:pt x="8075948" y="0"/>
                </a:lnTo>
                <a:lnTo>
                  <a:pt x="8075948" y="4939262"/>
                </a:lnTo>
                <a:lnTo>
                  <a:pt x="0" y="493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24432"/>
            <a:ext cx="734239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Results &amp;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PERFORMANCE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9405" y="3439240"/>
            <a:ext cx="8274595" cy="417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953" indent="-255476" lvl="1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Model p</a:t>
            </a: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erformance comparison on test dataset:</a:t>
            </a:r>
          </a:p>
          <a:p>
            <a:pPr algn="l" marL="510953" indent="-255476" lvl="1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MobileNetV1 – 87.79% accuracy</a:t>
            </a:r>
          </a:p>
          <a:p>
            <a:pPr algn="l" marL="510953" indent="-255476" lvl="1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MobileNetV2 – 81.42% accuracy</a:t>
            </a:r>
          </a:p>
          <a:p>
            <a:pPr algn="l" marL="510953" indent="-255476" lvl="1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EfficientNetB0 – 98.05% accuracy</a:t>
            </a:r>
          </a:p>
          <a:p>
            <a:pPr algn="l" marL="510953" indent="-255476" lvl="1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EfficientNetB0 achieved the highest accuracy with lowest loss</a:t>
            </a:r>
          </a:p>
          <a:p>
            <a:pPr algn="l" marL="510953" indent="-255476" lvl="1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MobileNet models are efficient but less accurate</a:t>
            </a:r>
          </a:p>
          <a:p>
            <a:pPr algn="l" marL="510953" indent="-255476" lvl="1">
              <a:lnSpc>
                <a:spcPts val="3313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Confusion matrix shows better classification performance for EfficientNetB0</a:t>
            </a:r>
          </a:p>
          <a:p>
            <a:pPr algn="l">
              <a:lnSpc>
                <a:spcPts val="33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7912" y="2122658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  <a:p>
            <a:pPr algn="l">
              <a:lnSpc>
                <a:spcPts val="48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907912" y="3495804"/>
            <a:ext cx="16351388" cy="467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8"/>
              </a:lnSpc>
            </a:pPr>
            <a:r>
              <a:rPr lang="en-US" sz="290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90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 study demonstrates that transfer learning is an effective approach for weed and crop classification. Among the evaluated models, EfficientNetB0 achieved the highest accuracy of 98.05%, outperforming MobileNetV1 and MobileNetV2. While MobileNet models are suitable for low-resource environments due to their efficiency, EfficientNetB0 provides superior performance for accuracy-critical applications. Overall, the proposed system can support precision agriculture by enabling accurate weed detection, reducing manual effort, and improving farming efficiency.</a:t>
            </a:r>
          </a:p>
          <a:p>
            <a:pPr algn="l">
              <a:lnSpc>
                <a:spcPts val="464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FINAL INSIGHTS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7782" y="3408465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7369021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7778115"/>
            <a:ext cx="4560684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Gaduputi Kotlo Vijaya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Srisabari Prahadeshwar G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Mikhil Sai Doddi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Jaivishanth N C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Pritesh Jain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DAHGYQAhdFw</dc:identifier>
  <dcterms:modified xsi:type="dcterms:W3CDTF">2011-08-01T06:04:30Z</dcterms:modified>
  <cp:revision>1</cp:revision>
  <dc:title>White Beige and Brown Simple Minimalist Clean Final Project Presentation</dc:title>
</cp:coreProperties>
</file>